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1800000">
            <a:off x="9520247" y="2117295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800000">
            <a:off x="9362575" y="3084839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1800000">
            <a:off x="5636294" y="568582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 rot="1800000">
            <a:off x="9376935" y="5040934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1800000">
            <a:off x="5943785" y="2368730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4633" y="165858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0271" y="5784414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60" y="3001637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1" name="Arc 10"/>
          <p:cNvSpPr/>
          <p:nvPr/>
        </p:nvSpPr>
        <p:spPr>
          <a:xfrm>
            <a:off x="-457200" y="-457200"/>
            <a:ext cx="914400" cy="91440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-457200" y="-457200"/>
            <a:ext cx="1097280" cy="109728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-457200" y="-457200"/>
            <a:ext cx="1280160" cy="128016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Inter"/>
              </a:defRPr>
            </a:pPr>
            <a:r>
              <a:t>PEERLINK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Inter"/>
              </a:defRPr>
            </a:pPr>
            <a:r>
              <a:t>OFFLINE MESH COMMUNICATION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Final Year Project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1800000">
            <a:off x="8513934" y="1724207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800000">
            <a:off x="7877085" y="3835814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1800000">
            <a:off x="4170562" y="3458537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 rot="1800000">
            <a:off x="5729521" y="4713164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1800000">
            <a:off x="4037281" y="4145088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4181" y="4836993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9722" y="3126385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9904" y="288003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1" name="Arc 10"/>
          <p:cNvSpPr/>
          <p:nvPr/>
        </p:nvSpPr>
        <p:spPr>
          <a:xfrm>
            <a:off x="-457200" y="-457200"/>
            <a:ext cx="914400" cy="91440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-457200" y="-457200"/>
            <a:ext cx="1097280" cy="109728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-457200" y="-457200"/>
            <a:ext cx="1280160" cy="128016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LITERATURE SURVEY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645920"/>
            <a:ext cx="10058400" cy="1005840"/>
          </a:xfrm>
          <a:prstGeom prst="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Inter"/>
              </a:defRPr>
            </a:pPr>
            <a:r>
              <a:t>FireChat / Bridgefy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Uses Bluetooth/Wi-Fi Direct. Proprioritary and often requires initial internet to sync keys.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Inter"/>
              </a:defRPr>
            </a:pPr>
            <a:r>
              <a:t>LoRa Mesh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Great range but extremely low bandwidth. Cannot support real-time chat UI effectively.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23360"/>
            <a:ext cx="10058400" cy="1005840"/>
          </a:xfrm>
          <a:prstGeom prst="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Inter"/>
              </a:defRPr>
            </a:pPr>
            <a:r>
              <a:t>Zigbee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Low power but requires specialized hardware not present in modern smartphones.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212080"/>
            <a:ext cx="10058400" cy="1005840"/>
          </a:xfrm>
          <a:prstGeom prst="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Inter"/>
              </a:defRPr>
            </a:pPr>
            <a:r>
              <a:t>PeerLink (Ours)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Uses ESP32 as an ubiquitous Wi-Fi bridge. High bandwidth, zero-config, and open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1800000">
            <a:off x="2195093" y="2731030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800000">
            <a:off x="9999020" y="1014001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1800000">
            <a:off x="7092701" y="5049219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 rot="1800000">
            <a:off x="1362550" y="2820459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1800000">
            <a:off x="3093801" y="4524690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4924" y="1423003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1412" y="116920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5029" y="34047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1" name="Arc 10"/>
          <p:cNvSpPr/>
          <p:nvPr/>
        </p:nvSpPr>
        <p:spPr>
          <a:xfrm>
            <a:off x="-457200" y="-457200"/>
            <a:ext cx="914400" cy="91440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-457200" y="-457200"/>
            <a:ext cx="1097280" cy="109728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-457200" y="-457200"/>
            <a:ext cx="1280160" cy="128016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Inter"/>
              </a:defRPr>
            </a:pPr>
            <a: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Inter"/>
              </a:defRPr>
            </a:pPr>
            <a:r>
              <a:t>MOBILE SENDER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Inter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Inter"/>
              </a:defRPr>
            </a:pPr>
            <a:r>
              <a:t>ESP32 RELAY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Inter"/>
              </a:defRPr>
            </a:pPr>
            <a:r>
              <a:t>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Inter"/>
              </a:defRPr>
            </a:pPr>
            <a:r>
              <a:t>MOBILE RECEIVER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1800000">
            <a:off x="4044372" y="3650128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800000">
            <a:off x="8101297" y="3378023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1800000">
            <a:off x="3947881" y="395147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 rot="1800000">
            <a:off x="3114773" y="4052877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1800000">
            <a:off x="197482" y="2580053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9943" y="5310914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2321" y="20824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716" y="5351517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1" name="Arc 10"/>
          <p:cNvSpPr/>
          <p:nvPr/>
        </p:nvSpPr>
        <p:spPr>
          <a:xfrm>
            <a:off x="-457200" y="-457200"/>
            <a:ext cx="914400" cy="91440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-457200" y="-457200"/>
            <a:ext cx="1097280" cy="109728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-457200" y="-457200"/>
            <a:ext cx="1280160" cy="128016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828800"/>
            <a:ext cx="30175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Inter"/>
              </a:defRPr>
            </a:pPr>
            <a:r>
              <a:t>KOTLIN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Jetpack Compose</a:t>
            </a:r>
            <a:br/>
            <a:r>
              <a:t>Room DB</a:t>
            </a:r>
            <a:br/>
            <a:r>
              <a:t>Coroutines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828800"/>
            <a:ext cx="30175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Inter"/>
              </a:defRPr>
            </a:pPr>
            <a:r>
              <a:t>C++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Arduino SDK</a:t>
            </a:r>
            <a:br/>
            <a:r>
              <a:t>WiFi.h</a:t>
            </a:r>
            <a:br/>
            <a:r>
              <a:t>ArduinoJson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3017520" cy="3657600"/>
          </a:xfrm>
          <a:prstGeom prst="roundRect">
            <a:avLst/>
          </a:prstGeom>
          <a:solidFill>
            <a:srgbClr val="0F172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Inter"/>
              </a:defRPr>
            </a:pPr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UDP Protocol</a:t>
            </a:r>
            <a:br/>
            <a:r>
              <a:t>Local Mesh</a:t>
            </a:r>
            <a:br/>
            <a:r>
              <a:t>Specifier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1800000">
            <a:off x="2106730" y="2816714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800000">
            <a:off x="6839037" y="5365053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1800000">
            <a:off x="7101470" y="4443483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 rot="1800000">
            <a:off x="7568535" y="3875775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1800000">
            <a:off x="8858244" y="1612564"/>
            <a:ext cx="365760" cy="365760"/>
          </a:xfrm>
          <a:prstGeom prst="hexagon">
            <a:avLst/>
          </a:prstGeom>
          <a:solidFill>
            <a:srgbClr val="0A1932"/>
          </a:solidFill>
          <a:ln>
            <a:solidFill>
              <a:srgbClr val="14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5558" y="3309731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808" y="760487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364" y="3311026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1" name="Arc 10"/>
          <p:cNvSpPr/>
          <p:nvPr/>
        </p:nvSpPr>
        <p:spPr>
          <a:xfrm>
            <a:off x="-457200" y="-457200"/>
            <a:ext cx="914400" cy="91440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-457200" y="-457200"/>
            <a:ext cx="1097280" cy="109728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-457200" y="-457200"/>
            <a:ext cx="1280160" cy="1280160"/>
          </a:xfrm>
          <a:prstGeom prst="arc">
            <a:avLst/>
          </a:prstGeom>
          <a:ln w="12700">
            <a:solidFill>
              <a:srgbClr val="14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MULTI-HOP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Inter"/>
              </a:defRPr>
            </a:pPr>
            <a:r>
              <a:t>ESP-TO-ESP PACKET FORWARDING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600200" y="2286000"/>
            <a:ext cx="2514600" cy="1600200"/>
          </a:xfrm>
          <a:prstGeom prst="line">
            <a:avLst/>
          </a:prstGeom>
          <a:ln w="4445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9FF14"/>
                </a:solidFill>
                <a:latin typeface="Inter"/>
              </a:defRPr>
            </a:pPr>
            <a: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3886200"/>
            <a:ext cx="2514600" cy="114300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14800" y="2286000"/>
            <a:ext cx="2743200" cy="1371600"/>
          </a:xfrm>
          <a:prstGeom prst="line">
            <a:avLst/>
          </a:prstGeom>
          <a:ln w="4445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9FF14"/>
                </a:solidFill>
                <a:latin typeface="Inter"/>
              </a:defRPr>
            </a:pPr>
            <a:r>
              <a:t>DATA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114800" y="3657600"/>
            <a:ext cx="2743200" cy="137160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58000" y="3566160"/>
            <a:ext cx="2651760" cy="91440"/>
          </a:xfrm>
          <a:prstGeom prst="line">
            <a:avLst/>
          </a:prstGeom>
          <a:ln w="4445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9FF14"/>
                </a:solidFill>
                <a:latin typeface="Inter"/>
              </a:defRPr>
            </a:pPr>
            <a:r>
              <a:t>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200400"/>
            <a:ext cx="1371600" cy="7315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📱 Sender</a:t>
            </a:r>
          </a:p>
        </p:txBody>
      </p:sp>
      <p:sp>
        <p:nvSpPr>
          <p:cNvPr id="27" name="Hexagon 26"/>
          <p:cNvSpPr/>
          <p:nvPr/>
        </p:nvSpPr>
        <p:spPr>
          <a:xfrm>
            <a:off x="3657600" y="1828800"/>
            <a:ext cx="1097280" cy="1097280"/>
          </a:xfrm>
          <a:prstGeom prst="hexagon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1031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⚡ ESP32</a:t>
            </a:r>
            <a:br/>
            <a:r>
              <a:t>Node A</a:t>
            </a:r>
          </a:p>
        </p:txBody>
      </p:sp>
      <p:sp>
        <p:nvSpPr>
          <p:cNvPr id="29" name="Hexagon 28"/>
          <p:cNvSpPr/>
          <p:nvPr/>
        </p:nvSpPr>
        <p:spPr>
          <a:xfrm>
            <a:off x="3657600" y="4572000"/>
            <a:ext cx="1097280" cy="1097280"/>
          </a:xfrm>
          <a:prstGeom prst="hexagon">
            <a:avLst/>
          </a:prstGeom>
          <a:solidFill>
            <a:srgbClr val="0F17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8463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⚡ ESP32</a:t>
            </a:r>
            <a:br/>
            <a:r>
              <a:t>Node B</a:t>
            </a:r>
          </a:p>
        </p:txBody>
      </p:sp>
      <p:sp>
        <p:nvSpPr>
          <p:cNvPr id="31" name="Hexagon 30"/>
          <p:cNvSpPr/>
          <p:nvPr/>
        </p:nvSpPr>
        <p:spPr>
          <a:xfrm>
            <a:off x="6400800" y="3200400"/>
            <a:ext cx="1097280" cy="1097280"/>
          </a:xfrm>
          <a:prstGeom prst="hexagon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74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⚡ ESP32</a:t>
            </a:r>
            <a:br/>
            <a:r>
              <a:t>Node 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200400"/>
            <a:ext cx="1371600" cy="7315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📲 Receiver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424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When the Receiver is out of direct range, the protocol dynamically routes the payload through intermediate ESP32 nodes (Node A → Node C). Inactive nodes (Node B) remain on standby to self-heal the network if a primary node fails.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
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solidFill>
              <a:srgbClr val="05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D4FF"/>
                </a:solidFill>
                <a:latin typeface="Courier New"/>
              </a:defRPr>
            </a:pPr>
            <a:r>
              <a:t>01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137160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Arial"/>
              </a:defRPr>
            </a:pPr>
            <a:r>
              <a:t>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t>FINAL YEAR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PeerLink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Arial"/>
              </a:defRPr>
            </a:pPr>
            <a:r>
              <a:t>An offline, internet-free peer-to-peer messaging system using an ESP32 microcontroller as a portable Wi-Fi relay hub for Android devices.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5303520"/>
            <a:ext cx="1371600" cy="365760"/>
          </a:xfrm>
          <a:prstGeom prst="roundRect">
            <a:avLst/>
          </a:prstGeom>
          <a:solidFill>
            <a:srgbClr val="050A1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t>Android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5303520"/>
            <a:ext cx="1371600" cy="365760"/>
          </a:xfrm>
          <a:prstGeom prst="roundRect">
            <a:avLst/>
          </a:prstGeom>
          <a:solidFill>
            <a:srgbClr val="050A14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923C"/>
                </a:solidFill>
                <a:latin typeface="Arial"/>
              </a:defRPr>
            </a:pPr>
            <a:r>
              <a:t>ESP32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5303520"/>
            <a:ext cx="1371600" cy="365760"/>
          </a:xfrm>
          <a:prstGeom prst="roundRect">
            <a:avLst/>
          </a:prstGeom>
          <a:solidFill>
            <a:srgbClr val="050A14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Arial"/>
              </a:defRPr>
            </a:pPr>
            <a:r>
              <a:t>Jetpack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5303520"/>
            <a:ext cx="1371600" cy="365760"/>
          </a:xfrm>
          <a:prstGeom prst="roundRect">
            <a:avLst/>
          </a:prstGeom>
          <a:solidFill>
            <a:srgbClr val="050A14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Arial"/>
              </a:defRPr>
            </a:pPr>
            <a:r>
              <a:t>UDP Mesh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solidFill>
              <a:srgbClr val="05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D4FF"/>
                </a:solidFill>
                <a:latin typeface="Courier New"/>
              </a:defRPr>
            </a:pPr>
            <a:r>
              <a:t>02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286000"/>
            <a:ext cx="2926080" cy="22860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Internet Dependency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2918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All popular messaging apps rely on cloud servers and active internet connectivity to exchange messages.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86000"/>
            <a:ext cx="2926080" cy="22860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Dead Zones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918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Remote areas, disaster zones, underground venues, and events often have no cellular signal or Wi-Fi infrastructure.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286000"/>
            <a:ext cx="2926080" cy="22860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Privacy &amp; Surveillance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32918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Server-based messaging exposes messages to third-party cloud providers, creating privacy and security concerns.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5029200"/>
            <a:ext cx="7589520" cy="731520"/>
          </a:xfrm>
          <a:prstGeom prst="rect">
            <a:avLst/>
          </a:prstGeom>
          <a:solidFill>
            <a:srgbClr val="0A1E2D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5212080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💡 The Need: A simple, infrastructure-free communication method that works with just a small device and smartphones.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solidFill>
              <a:srgbClr val="05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D4FF"/>
                </a:solidFill>
                <a:latin typeface="Courier New"/>
              </a:defRPr>
            </a:pPr>
            <a:r>
              <a:t>03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Introducing PeerLink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t>PeerLink transforms an ESP32 microcontroller into a portable Wi-Fi relay hub. Nearby Android phones connect to it and can chat with each other — completely offline, no SIM card, no internet, no server.</a:t>
            </a:r>
            <a:br/>
            <a:br/>
            <a:r>
              <a:t>• Works anywhere — even in remote areas</a:t>
            </a:r>
            <a:br/>
            <a:r>
              <a:t>• No registration, no accounts, no cloud</a:t>
            </a:r>
            <a:br/>
            <a:r>
              <a:t>• ESP32 costs under ₹400 and runs on a phone charger</a:t>
            </a:r>
            <a:br/>
            <a:r>
              <a:t>• End-to-end local 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286000"/>
            <a:ext cx="4114800" cy="32004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2377440"/>
            <a:ext cx="374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92608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ESP32 Acts As: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291840"/>
            <a:ext cx="3749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• Wi-Fi Access Point (hotspot)</a:t>
            </a:r>
            <a:br/>
            <a:r>
              <a:t>• UDP packet relay / router</a:t>
            </a:r>
            <a:br/>
            <a:r>
              <a:t>• Client registry &amp; tracker</a:t>
            </a:r>
            <a:br/>
            <a:r>
              <a:t>• Presence broadcaster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solidFill>
              <a:srgbClr val="05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D4FF"/>
                </a:solidFill>
                <a:latin typeface="Courier New"/>
              </a:defRPr>
            </a:pPr>
            <a:r>
              <a:t>04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Architecture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011680"/>
            <a:ext cx="1828800" cy="1371600"/>
          </a:xfrm>
          <a:prstGeom prst="roundRect">
            <a:avLst/>
          </a:prstGeom>
          <a:solidFill>
            <a:srgbClr val="0A1423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Arial"/>
              </a:defRPr>
            </a:pPr>
            <a:r>
              <a:t>Android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4B4"/>
                </a:solidFill>
                <a:latin typeface="Arial"/>
              </a:defRPr>
            </a:pPr>
            <a:r>
              <a:t>Sender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68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2011680"/>
            <a:ext cx="2011680" cy="1371600"/>
          </a:xfrm>
          <a:prstGeom prst="roundRect">
            <a:avLst/>
          </a:prstGeom>
          <a:solidFill>
            <a:srgbClr val="0A1423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Arial"/>
              </a:defRPr>
            </a:pPr>
            <a:r>
              <a:t>WifiNetworkSpecifier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4B4"/>
                </a:solidFill>
                <a:latin typeface="Arial"/>
              </a:defRPr>
            </a:pPr>
            <a:r>
              <a:t>Auto-connects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468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011680"/>
            <a:ext cx="1828800" cy="1371600"/>
          </a:xfrm>
          <a:prstGeom prst="roundRect">
            <a:avLst/>
          </a:prstGeom>
          <a:solidFill>
            <a:srgbClr val="0A1423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C3AED"/>
                </a:solidFill>
                <a:latin typeface="Arial"/>
              </a:defRPr>
            </a:pPr>
            <a:r>
              <a:t>ESP32 Relay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4B4"/>
                </a:solidFill>
                <a:latin typeface="Arial"/>
              </a:defRPr>
            </a:pPr>
            <a:r>
              <a:t>Routes port 8888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468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2011680"/>
            <a:ext cx="1828800" cy="1371600"/>
          </a:xfrm>
          <a:prstGeom prst="roundRect">
            <a:avLst/>
          </a:prstGeom>
          <a:solidFill>
            <a:srgbClr val="0A1423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Arial"/>
              </a:defRPr>
            </a:pPr>
            <a:r>
              <a:t>Android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4B4"/>
                </a:solidFill>
                <a:latin typeface="Arial"/>
              </a:defRPr>
            </a:pPr>
            <a:r>
              <a:t>Receiver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114800"/>
            <a:ext cx="2377440" cy="13716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206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1097280" y="4754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EspConnector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120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Auto-joins PeerLink Wi-Fi using APIs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4114800"/>
            <a:ext cx="2377440" cy="13716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4206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3657600" y="4754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UdpChat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120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Sends/receives JSON packets on UDP 8888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4114800"/>
            <a:ext cx="2377440" cy="13716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4206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217920" y="4754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MeshService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120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Android Foreground Service orchestration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95360" y="4114800"/>
            <a:ext cx="2377440" cy="13716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0" y="4206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8778240" y="4754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Room DB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5120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Persists chat history locally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solidFill>
              <a:srgbClr val="05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D4FF"/>
                </a:solidFill>
                <a:latin typeface="Courier New"/>
              </a:defRPr>
            </a:pPr>
            <a:r>
              <a:t>05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t>HARDWARE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ESP32 Relay Firmware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t>• Wi-Fi AP Mode — Broadcasts SSID PeerLink_XXXX</a:t>
            </a:r>
            <a:br/>
            <a:r>
              <a:t>• UDP Server on port 8888 — Listens and routes</a:t>
            </a:r>
            <a:br/>
            <a:r>
              <a:t>• Client Registry — Tracks all connected devices</a:t>
            </a:r>
            <a:br/>
            <a:r>
              <a:t>• Presence Broadcast — Announces relay every 2s</a:t>
            </a:r>
            <a:br/>
            <a:r>
              <a:t>• Client Timeout — Removes inactive devices (30s)</a:t>
            </a:r>
            <a:br/>
            <a:r>
              <a:t>• LED Indicator — GPIO 2 blinks on activity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286000"/>
            <a:ext cx="5029200" cy="2743200"/>
          </a:xfrm>
          <a:prstGeom prst="roundRect">
            <a:avLst/>
          </a:prstGeom>
          <a:solidFill>
            <a:srgbClr val="000000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468880"/>
            <a:ext cx="4663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4"/>
                </a:solidFill>
                <a:latin typeface="Courier New"/>
              </a:defRPr>
            </a:pPr>
            <a:r>
              <a:t>// Message routing logic (simplified)</a:t>
            </a:r>
            <a:br/>
            <a:r>
              <a:t>if (type == "chat") {</a:t>
            </a:r>
            <a:br/>
            <a:r>
              <a:t>  if (to == "BROADCAST") {</a:t>
            </a:r>
            <a:br/>
            <a:r>
              <a:t>    for (auto &amp;[id, info] : clients)</a:t>
            </a:r>
            <a:br/>
            <a:r>
              <a:t>      forwardPacket(json, info.ip);</a:t>
            </a:r>
            <a:br/>
            <a:r>
              <a:t>  } else {</a:t>
            </a:r>
            <a:br/>
            <a:r>
              <a:t>    forwardPacket(json, clients[to].ip);</a:t>
            </a:r>
            <a:br/>
            <a:r>
              <a:t>  }</a:t>
            </a:r>
            <a:br/>
            <a:r>
              <a:t>} else if (type == "get_clients") {</a:t>
            </a:r>
            <a:br/>
            <a:r>
              <a:t>  sendClientList(senderIP);</a:t>
            </a:r>
            <a:br/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5303520"/>
            <a:ext cx="1371600" cy="365760"/>
          </a:xfrm>
          <a:prstGeom prst="roundRect">
            <a:avLst/>
          </a:prstGeom>
          <a:solidFill>
            <a:srgbClr val="050A14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923C"/>
                </a:solidFill>
                <a:latin typeface="Arial"/>
              </a:defRPr>
            </a:pPr>
            <a:r>
              <a:t>Arduino C++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5303520"/>
            <a:ext cx="1371600" cy="365760"/>
          </a:xfrm>
          <a:prstGeom prst="roundRect">
            <a:avLst/>
          </a:prstGeom>
          <a:solidFill>
            <a:srgbClr val="050A1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t>ArduinoJson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solidFill>
              <a:srgbClr val="05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D4FF"/>
                </a:solidFill>
                <a:latin typeface="Courier New"/>
              </a:defRPr>
            </a:pPr>
            <a:r>
              <a:t>06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t>ANDROID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Android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286000"/>
            <a:ext cx="4389120" cy="18288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3774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260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EspConnector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29184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Uses Android's WifiNetworkSpecifier API to connect to hotspot networks via Kotlin callbackFlow.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86000"/>
            <a:ext cx="4389120" cy="18288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260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UdpChat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Manages DatagramSocket on port 8888 for UdpPacket objects. Uses Coroutines &amp; MutableSharedFlow.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389120"/>
            <a:ext cx="4389120" cy="18288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44805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⚙️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029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MeshService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39496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Foreground Service staying alive in background. Orchestrates DB and state flows.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389120"/>
            <a:ext cx="4389120" cy="18288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4805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🗄️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029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Room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39496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Persists MessageEntity records locally. UI observes via a Flow&lt;List&lt;MessageEntity&gt;&gt;.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solidFill>
              <a:srgbClr val="05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D4FF"/>
                </a:solidFill>
                <a:latin typeface="Courier New"/>
              </a:defRPr>
            </a:pPr>
            <a:r>
              <a:t>07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App Screen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011680" cy="1371600"/>
          </a:xfrm>
          <a:prstGeom prst="roundRect">
            <a:avLst/>
          </a:prstGeom>
          <a:solidFill>
            <a:srgbClr val="0A1423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Arial"/>
              </a:defRPr>
            </a:pPr>
            <a:r>
              <a:t>Splash Screen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4B4"/>
                </a:solidFill>
                <a:latin typeface="Arial"/>
              </a:defRPr>
            </a:pPr>
            <a:r>
              <a:t>Brand intro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011680"/>
            <a:ext cx="2011680" cy="1371600"/>
          </a:xfrm>
          <a:prstGeom prst="roundRect">
            <a:avLst/>
          </a:prstGeom>
          <a:solidFill>
            <a:srgbClr val="0A1423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Arial"/>
              </a:defRPr>
            </a:pPr>
            <a:r>
              <a:t>Permission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4B4"/>
                </a:solidFill>
                <a:latin typeface="Arial"/>
              </a:defRPr>
            </a:pPr>
            <a:r>
              <a:t>Wi-Fi, 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2011680"/>
            <a:ext cx="2011680" cy="1371600"/>
          </a:xfrm>
          <a:prstGeom prst="roundRect">
            <a:avLst/>
          </a:prstGeom>
          <a:solidFill>
            <a:srgbClr val="0A1423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Arial"/>
              </a:defRPr>
            </a:pPr>
            <a:r>
              <a:t>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4B4"/>
                </a:solidFill>
                <a:latin typeface="Arial"/>
              </a:defRPr>
            </a:pPr>
            <a:r>
              <a:t>Connecting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2011680"/>
            <a:ext cx="2011680" cy="1371600"/>
          </a:xfrm>
          <a:prstGeom prst="roundRect">
            <a:avLst/>
          </a:prstGeom>
          <a:solidFill>
            <a:srgbClr val="0A1423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Arial"/>
              </a:defRPr>
            </a:pPr>
            <a:r>
              <a:t>Device 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4B4"/>
                </a:solidFill>
                <a:latin typeface="Arial"/>
              </a:defRPr>
            </a:pPr>
            <a:r>
              <a:t>Shows peers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2011680"/>
            <a:ext cx="2011680" cy="1371600"/>
          </a:xfrm>
          <a:prstGeom prst="roundRect">
            <a:avLst/>
          </a:prstGeom>
          <a:solidFill>
            <a:srgbClr val="0A1423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Arial"/>
              </a:defRPr>
            </a:pPr>
            <a:r>
              <a:t>Chat Screen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4B4"/>
                </a:solidFill>
                <a:latin typeface="Arial"/>
              </a:defRPr>
            </a:pPr>
            <a:r>
              <a:t>Messaging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4114800"/>
            <a:ext cx="2926080" cy="164592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4206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155448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Jetpack Compose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120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Declarative UI with Material 3, reactive state.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4114800"/>
            <a:ext cx="2926080" cy="164592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4206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75488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Navigation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5120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Type-safe navigation with NavHost.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4114800"/>
            <a:ext cx="2926080" cy="164592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0" y="4206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795528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Dark Theme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0" y="5120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Black background with white bubbles.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solidFill>
              <a:srgbClr val="05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D4FF"/>
                </a:solidFill>
                <a:latin typeface="Courier New"/>
              </a:defRPr>
            </a:pPr>
            <a:r>
              <a:t>08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Message Data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286000"/>
            <a:ext cx="9418320" cy="3200400"/>
          </a:xfrm>
          <a:prstGeom prst="roundRect">
            <a:avLst/>
          </a:prstGeom>
          <a:solidFill>
            <a:srgbClr val="000000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468880"/>
            <a:ext cx="90525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4"/>
                </a:solidFill>
                <a:latin typeface="Courier New"/>
              </a:defRPr>
            </a:pPr>
            <a:r>
              <a:t>// 1. User taps Send → ViewModel → MeshService</a:t>
            </a:r>
            <a:br/>
            <a:r>
              <a:t>fun sendMessage(toPeerId: String, content: String) {</a:t>
            </a:r>
            <a:br/>
            <a:r>
              <a:t>    val packet = UdpPacket(type="chat", from=myDeviceId, to=toPeerId, payload=content)</a:t>
            </a:r>
            <a:br/>
            <a:r>
              <a:t>    database.messageDao().insertMessage(localMsg)  // Save locally first</a:t>
            </a:r>
            <a:br/>
            <a:r>
              <a:t>    udpChat.sendMessage(packet)               // Send over UDP → ESP32 router</a:t>
            </a:r>
            <a:br/>
            <a:r>
              <a:t>}</a:t>
            </a:r>
            <a:br/>
            <a:br/>
            <a:r>
              <a:t>// 2. ESP32 receives packet → looks up target device IP → forwards</a:t>
            </a:r>
            <a:br/>
            <a:r>
              <a:t>// 3. Receiver's UdpChat emits via SharedFlow → MeshService handles</a:t>
            </a:r>
            <a:br/>
            <a:r>
              <a:t>when (packet.type) {</a:t>
            </a:r>
            <a:br/>
            <a:r>
              <a:t>    "chat" -&gt; database.messageDao().insertMessage(incomingMsg)</a:t>
            </a:r>
            <a:br/>
            <a:r>
              <a:t>    "clients_list" -&gt; _serviceState.update { it.copy(peers = parsedPeers) }</a:t>
            </a:r>
            <a:br/>
            <a:r>
              <a:t>}</a:t>
            </a:r>
            <a:br/>
            <a:r>
              <a:t>// 4. Room DB change → Flow emits → Compose UI auto-recomposes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5760720"/>
            <a:ext cx="1371600" cy="365760"/>
          </a:xfrm>
          <a:prstGeom prst="roundRect">
            <a:avLst/>
          </a:prstGeom>
          <a:solidFill>
            <a:srgbClr val="050A1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5806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t>Coroutines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5760720"/>
            <a:ext cx="1371600" cy="365760"/>
          </a:xfrm>
          <a:prstGeom prst="roundRect">
            <a:avLst/>
          </a:prstGeom>
          <a:solidFill>
            <a:srgbClr val="050A14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5806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Arial"/>
              </a:defRPr>
            </a:pPr>
            <a:r>
              <a:t>StateFlow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5760720"/>
            <a:ext cx="1371600" cy="365760"/>
          </a:xfrm>
          <a:prstGeom prst="roundRect">
            <a:avLst/>
          </a:prstGeom>
          <a:solidFill>
            <a:srgbClr val="050A14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5806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Arial"/>
              </a:defRPr>
            </a:pPr>
            <a:r>
              <a:t>Room 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solidFill>
              <a:srgbClr val="05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D4FF"/>
                </a:solidFill>
                <a:latin typeface="Courier New"/>
              </a:defRPr>
            </a:pPr>
            <a:r>
              <a:t>09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286000"/>
            <a:ext cx="2926080" cy="22860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Android / Kotlin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2918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Jetpack Compose · Navigation · ViewModel · Room DB · Foreground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86000"/>
            <a:ext cx="2926080" cy="22860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Embedded / C++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918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ESP32 Arduino SDK · WiFi.h · WiFiUdp.h · ArduinoJson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286000"/>
            <a:ext cx="2926080" cy="22860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Networking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32918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WifiNetworkSpecifier API · UDP Datagrams · Port 8888 · Broadcast 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760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Arial"/>
              </a:defRPr>
            </a:pPr>
            <a:r>
              <a:t>Internet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0292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  <a:latin typeface="Arial"/>
              </a:defRPr>
            </a:pPr>
            <a:r>
              <a:t>&lt;₹400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760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Arial"/>
              </a:defRPr>
            </a:pPr>
            <a:r>
              <a:t>Hardware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0292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  <a:latin typeface="Arial"/>
              </a:defRPr>
            </a:pPr>
            <a:r>
              <a:t>8888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760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Arial"/>
              </a:defRPr>
            </a:pPr>
            <a:r>
              <a:t>UDP 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50292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  <a:latin typeface="Arial"/>
              </a:defRPr>
            </a:pPr>
            <a:r>
              <a:t>2s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5760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Arial"/>
              </a:defRPr>
            </a:pPr>
            <a:r>
              <a:t>Broadcast Interval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solidFill>
              <a:srgbClr val="05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D4FF"/>
                </a:solidFill>
                <a:latin typeface="Courier New"/>
              </a:defRPr>
            </a:pPr>
            <a:r>
              <a:t>10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t>IMPACT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Use Cases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t>🎯 Real-World Use Cases</a:t>
            </a:r>
            <a:br/>
            <a:br/>
            <a:r>
              <a:t>• Disaster Relief — Communication when towers are down</a:t>
            </a:r>
            <a:br/>
            <a:r>
              <a:t>• Remote Expeditions — Trekking, camping, mountaineering</a:t>
            </a:r>
            <a:br/>
            <a:r>
              <a:t>• Event Management — Large venues with poor connectivity</a:t>
            </a:r>
            <a:br/>
            <a:r>
              <a:t>• Underground Facilities — Mines, bunkers, basements</a:t>
            </a:r>
            <a:br/>
            <a:r>
              <a:t>• Campus / Office — Private local-only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t>🚀 Future Enhancements</a:t>
            </a:r>
            <a:br/>
            <a:br/>
            <a:r>
              <a:t>• Multi-hop mesh relay (ESP32 to ESP32 chaining)</a:t>
            </a:r>
            <a:br/>
            <a:r>
              <a:t>• End-to-end message encryption (AES/RSA)</a:t>
            </a:r>
            <a:br/>
            <a:r>
              <a:t>• File / image transfer support</a:t>
            </a:r>
            <a:br/>
            <a:r>
              <a:t>• Group chat &amp; broadcast channels</a:t>
            </a:r>
            <a:br/>
            <a:r>
              <a:t>• iOS client application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solidFill>
              <a:srgbClr val="05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D4FF"/>
                </a:solidFill>
                <a:latin typeface="Courier New"/>
              </a:defRPr>
            </a:pPr>
            <a:r>
              <a:t>11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371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Arial"/>
              </a:defRPr>
            </a:pPr>
            <a:r>
              <a:t>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t>END OF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B4B4"/>
                </a:solidFill>
                <a:latin typeface="Arial"/>
              </a:defRPr>
            </a:pPr>
            <a:r>
              <a:t>PeerLink — Connecting People, Offline.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572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  <a:latin typeface="Arial"/>
              </a:defRPr>
            </a:pPr>
            <a: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Arial"/>
              </a:defRPr>
            </a:pPr>
            <a:r>
              <a:t>Android (Kotlin)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4572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  <a:latin typeface="Arial"/>
              </a:defRPr>
            </a:pPr>
            <a: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Arial"/>
              </a:defRPr>
            </a:pPr>
            <a:r>
              <a:t>ESP32 Firmware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4572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  <a:latin typeface="Arial"/>
              </a:defRPr>
            </a:pPr>
            <a:r>
              <a:t>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Arial"/>
              </a:defRPr>
            </a:pPr>
            <a:r>
              <a:t>Offline Mesh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6464"/>
                </a:solidFill>
                <a:latin typeface="Arial"/>
              </a:defRPr>
            </a:pPr>
            <a:r>
              <a:t>Built with Kotlin · Jetpack Compose · ESP32 Arduino · UDP Networking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